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673"/>
  </p:normalViewPr>
  <p:slideViewPr>
    <p:cSldViewPr snapToGrid="0">
      <p:cViewPr varScale="1">
        <p:scale>
          <a:sx n="115" d="100"/>
          <a:sy n="115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57A5F-92D7-1C42-AD37-20A72C335E0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8BF42-77B8-854C-A116-8683B9D2A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1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8BF42-77B8-854C-A116-8683B9D2AF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1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6884-C594-86A4-3F7D-925D3104F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C1AAF-B0DC-40A1-0583-BC5F0E6F7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6086C-77CD-D0F0-EC88-0E297B43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5764-072D-0491-6566-621CE940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A0206-3234-9EA0-35B1-E5264A10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7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38AC-F196-2DF5-620C-98A70369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519A7-79B9-AB53-4628-35D378617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6A9B9-BBD5-75AA-AA82-428B2777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E708E-F142-2F62-052E-CDA3B162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2643-5922-CE17-F3DB-FBF1918E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27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6148-07A4-C702-72BC-5168A334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6F581-1A09-46EF-BE15-D5CA14628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21992-504F-8BAC-8C31-2D256D12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855A-59FF-7E42-E7E2-6D64932E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1D335-DD28-696C-0DBF-B40CAA7D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4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3D4E-9B0E-9C61-B3BF-3261923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AB897-AA8F-29F0-5069-A1585FDD5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2273D-1E79-1E9D-F363-3C3BAEE46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AC58E-41E6-EB45-129D-3A144C65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85CBA-B345-4F5B-C697-57BD54F1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B4A27-9327-C6EF-C1C2-CB60F8FD7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9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D830-0F6D-04AB-9965-DF73A23B5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BD09E-39ED-B438-FF35-444149370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DE3F8-35C0-DC26-65FC-091DFB023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63686-EA1A-7FD7-EBD1-F8C04A5D6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BDD9D-DDFC-0826-7D89-916801DA7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B42C53-25C2-FF75-3D8B-7CA72CDD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B265C-097D-ABFD-00A6-DDC7D635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6313DE-B333-62C1-8838-662FAEF9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AEF2-C2CD-4DEC-98BB-303D9D99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3F5F4-C005-B549-9F6C-2EA233FB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435C4-040E-183F-B37D-12D26CE4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C521B-7038-C1C8-11F3-2C414BE5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0BC9B-3AD0-D6EA-CF55-C1BC1AFA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91C6A-14C5-1D59-1F12-ED69850C9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51D3A-859E-B0E9-4DF0-A040D754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82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F684-F377-4414-5F1A-212134BB4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91E7-B6C5-55BA-F7EE-77C566412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99DE9-9CEF-6FBF-5ED2-AB4CD218A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8573F-247D-8B6C-75C5-C82B5C767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AE4C-D8AB-D3B1-9C73-82DD7CA4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48FFA-CE2B-5978-25A3-2D55C3C2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6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0E08-C42F-1BC9-7D99-9E8C1A3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3B2497-3746-3204-DE4E-E0ACF124D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2B6B6-593F-F376-85B9-DF2EA72FF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48D09-737D-A5CF-8672-75DCF809D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1B6DD-E88F-1D2B-619C-1487DABB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BFC7E-D7F2-2690-7307-F4DC1D71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5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2F54-1EE7-B683-C31C-65C97E3B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64DBC-0E14-5853-7B8A-6686FE066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68AD3-CD8C-FBFD-7E9C-944DD762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7DDC0-48FE-36B7-38A4-98417C47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E1746-368C-6758-55DE-C1F02E09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5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5E861-F725-F20C-CED7-DD40BB660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C6294-562D-DD86-41E4-E60ECA391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2838C-4EA0-7B51-FFAF-C9C3C3F6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A5008-EC99-1E90-C33B-AC6730BF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9DEBC-1289-ED76-5A43-CE9270A8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1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74FA2B-D6A1-DB79-6EC1-D1FA957D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778F9-D8E5-875F-EEAB-5A212D18B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7F63-C57A-9E30-6E0D-5BFDAA554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73610-C518-7A49-8A03-C69E42D1EC6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121-9FCB-A7A6-F5AC-F5DD9255E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43920-1EA4-40AA-5191-AD2978349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C7574-32E3-A947-89FE-4286ACA79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9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scholar.org/paper/Modeling-wine-preferences-by-data-mining-from-Cortez-Cerdeira/bf15a0ccc14ac1deb5cea570c870389c16be019c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6F3D-3224-C07B-1702-43A4606BF0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ML </a:t>
            </a:r>
            <a:r>
              <a:rPr lang="ru-RU" dirty="0"/>
              <a:t>ПРОЕКТ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ABB31-98D5-F783-A51E-6818C56BB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161" y="5056264"/>
            <a:ext cx="9144000" cy="1655762"/>
          </a:xfrm>
        </p:spPr>
        <p:txBody>
          <a:bodyPr/>
          <a:lstStyle/>
          <a:p>
            <a:pPr algn="l"/>
            <a:r>
              <a:rPr lang="ru-RU" dirty="0" err="1"/>
              <a:t>Клем</a:t>
            </a:r>
            <a:r>
              <a:rPr lang="ru-RU" dirty="0"/>
              <a:t> Кирилл</a:t>
            </a:r>
          </a:p>
          <a:p>
            <a:pPr algn="l"/>
            <a:r>
              <a:rPr lang="ru-RU" dirty="0"/>
              <a:t>Линьков Вадим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08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24DED9-E481-172D-8266-A768C23E8FD1}"/>
              </a:ext>
            </a:extLst>
          </p:cNvPr>
          <p:cNvSpPr txBox="1"/>
          <p:nvPr/>
        </p:nvSpPr>
        <p:spPr>
          <a:xfrm>
            <a:off x="1043848" y="1792860"/>
            <a:ext cx="6097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Датасет</a:t>
            </a:r>
            <a:r>
              <a:rPr lang="en-US" sz="2400" dirty="0"/>
              <a:t>:</a:t>
            </a:r>
            <a:endParaRPr lang="ru-RU" sz="2400" dirty="0"/>
          </a:p>
          <a:p>
            <a:r>
              <a:rPr lang="ru-RU" sz="2400" dirty="0"/>
              <a:t>  </a:t>
            </a:r>
            <a:r>
              <a:rPr lang="en-US" sz="2400" dirty="0"/>
              <a:t>Wine Quality (red </a:t>
            </a:r>
            <a:r>
              <a:rPr lang="ru-RU" sz="2400" dirty="0"/>
              <a:t>и </a:t>
            </a:r>
            <a:r>
              <a:rPr lang="en-US" sz="2400" dirty="0"/>
              <a:t>white</a:t>
            </a:r>
            <a:r>
              <a:rPr lang="ru-RU" sz="2400" dirty="0"/>
              <a:t>)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3916B-1FE7-DE2C-B90F-71A825ADB82B}"/>
              </a:ext>
            </a:extLst>
          </p:cNvPr>
          <p:cNvSpPr txBox="1"/>
          <p:nvPr/>
        </p:nvSpPr>
        <p:spPr>
          <a:xfrm>
            <a:off x="1043848" y="2900179"/>
            <a:ext cx="60978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Цель</a:t>
            </a:r>
            <a:r>
              <a:rPr lang="en-US" sz="2400" dirty="0"/>
              <a:t>:</a:t>
            </a:r>
          </a:p>
          <a:p>
            <a:r>
              <a:rPr lang="en-US" sz="2400" dirty="0"/>
              <a:t>  </a:t>
            </a:r>
            <a:r>
              <a:rPr lang="ru-RU" sz="2400" dirty="0"/>
              <a:t>построить устойчивую модель для предсказания качества вина и исследовать роль аномалий, инженерии признаков и интерпретации моделей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61B03-BB69-C282-8348-8E1457EEFAF6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Проект и цель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2156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08575-5EB4-4B51-D145-3D9FBB99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0A9484-07E4-FE45-8F76-176B653D325C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Описание датасета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BA036-4C7D-558D-E60F-A3A5D61EA761}"/>
              </a:ext>
            </a:extLst>
          </p:cNvPr>
          <p:cNvSpPr txBox="1"/>
          <p:nvPr/>
        </p:nvSpPr>
        <p:spPr>
          <a:xfrm>
            <a:off x="581138" y="1153881"/>
            <a:ext cx="6888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Датасет состоит из химических характеристик вина и оценки качества</a:t>
            </a:r>
            <a:r>
              <a:rPr lang="en-US" sz="2400" dirty="0"/>
              <a:t>, </a:t>
            </a:r>
            <a:r>
              <a:rPr lang="ru-RU" sz="2400" dirty="0"/>
              <a:t>объединены поднаборы белого и красного вина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3832E-085F-27C2-D553-36748287E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96" y="2233024"/>
            <a:ext cx="6683105" cy="32093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8BEE2C-0300-5167-8080-A7AB593BAFBF}"/>
              </a:ext>
            </a:extLst>
          </p:cNvPr>
          <p:cNvSpPr txBox="1"/>
          <p:nvPr/>
        </p:nvSpPr>
        <p:spPr>
          <a:xfrm>
            <a:off x="283684" y="5875145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Modeling wine preferences by data mining from physicochemical 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801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A8683-6875-8A21-3D75-27323936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2BDF72-F6C2-830E-6EDA-840AFC2732AC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Постановка задачи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4E32D-7C59-570F-000A-97194136782A}"/>
              </a:ext>
            </a:extLst>
          </p:cNvPr>
          <p:cNvSpPr txBox="1"/>
          <p:nvPr/>
        </p:nvSpPr>
        <p:spPr>
          <a:xfrm>
            <a:off x="559104" y="944560"/>
            <a:ext cx="68882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Задача - регрессия: предсказать числовую оценку качества вина</a:t>
            </a:r>
            <a:r>
              <a:rPr lang="en-US" sz="2400" dirty="0"/>
              <a:t>. </a:t>
            </a:r>
            <a:r>
              <a:rPr lang="ru-RU" sz="2400" dirty="0"/>
              <a:t>Критерий качества </a:t>
            </a:r>
            <a:r>
              <a:rPr lang="en-US" sz="2400" dirty="0"/>
              <a:t>-</a:t>
            </a:r>
            <a:r>
              <a:rPr lang="ru-RU" sz="2400" dirty="0"/>
              <a:t> </a:t>
            </a:r>
            <a:r>
              <a:rPr lang="en-US" sz="2400" dirty="0"/>
              <a:t>RMSE, MAE, R²</a:t>
            </a:r>
            <a:endParaRPr lang="ru-RU" sz="2400" dirty="0"/>
          </a:p>
          <a:p>
            <a:br>
              <a:rPr lang="ru-RU" sz="2400" dirty="0"/>
            </a:br>
            <a:r>
              <a:rPr lang="en-US" dirty="0"/>
              <a:t>*</a:t>
            </a:r>
            <a:r>
              <a:rPr lang="ru-RU" dirty="0"/>
              <a:t>дополнительно рассматриваются вспомогательные задачи классификации и анализа структуры данных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22B568-2BE7-EE4D-31D7-E5E03242CD5A}"/>
              </a:ext>
            </a:extLst>
          </p:cNvPr>
          <p:cNvSpPr txBox="1"/>
          <p:nvPr/>
        </p:nvSpPr>
        <p:spPr>
          <a:xfrm>
            <a:off x="283684" y="3024915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 err="1">
                <a:latin typeface="+mj-lt"/>
              </a:rPr>
              <a:t>Бейзлайн</a:t>
            </a:r>
            <a:endParaRPr lang="en-US" sz="32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660DAF-2487-7C09-F55D-59A299933F07}"/>
              </a:ext>
            </a:extLst>
          </p:cNvPr>
          <p:cNvSpPr txBox="1"/>
          <p:nvPr/>
        </p:nvSpPr>
        <p:spPr>
          <a:xfrm>
            <a:off x="559103" y="3558202"/>
            <a:ext cx="68882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Линейная регрессия</a:t>
            </a:r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63DD34E-F4EE-A7CC-B1AD-C7113DD74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581643"/>
              </p:ext>
            </p:extLst>
          </p:nvPr>
        </p:nvGraphicFramePr>
        <p:xfrm>
          <a:off x="1260051" y="4142977"/>
          <a:ext cx="613226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9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0.560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0.520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0.308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440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9D05-68D2-A1B5-1559-B44DA325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EA7852-6A30-FC23-2237-191365F88622}"/>
              </a:ext>
            </a:extLst>
          </p:cNvPr>
          <p:cNvSpPr txBox="1"/>
          <p:nvPr/>
        </p:nvSpPr>
        <p:spPr>
          <a:xfrm>
            <a:off x="283684" y="254492"/>
            <a:ext cx="60978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EDA: </a:t>
            </a:r>
            <a:r>
              <a:rPr lang="ru-RU" sz="3200" dirty="0">
                <a:latin typeface="+mj-lt"/>
              </a:rPr>
              <a:t>распределение целевой переменной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5D8EB-8B46-8888-C1D4-D0EEBCC9B784}"/>
              </a:ext>
            </a:extLst>
          </p:cNvPr>
          <p:cNvSpPr txBox="1"/>
          <p:nvPr/>
        </p:nvSpPr>
        <p:spPr>
          <a:xfrm>
            <a:off x="363557" y="1449933"/>
            <a:ext cx="68882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Распределение качества дискретное и несбалансированное: большинство наблюдений сосредоточено в средних значениях</a:t>
            </a:r>
            <a:br>
              <a:rPr lang="ru-RU" sz="2400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E267F6-9EC1-4704-070D-0F137A211864}"/>
              </a:ext>
            </a:extLst>
          </p:cNvPr>
          <p:cNvSpPr txBox="1"/>
          <p:nvPr/>
        </p:nvSpPr>
        <p:spPr>
          <a:xfrm>
            <a:off x="363557" y="2905496"/>
            <a:ext cx="68882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Идем в нелинейные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67F36A-7DCB-5A36-7A83-86C4BA877389}"/>
              </a:ext>
            </a:extLst>
          </p:cNvPr>
          <p:cNvSpPr txBox="1"/>
          <p:nvPr/>
        </p:nvSpPr>
        <p:spPr>
          <a:xfrm>
            <a:off x="626125" y="3699907"/>
            <a:ext cx="68882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Гипотеза</a:t>
            </a:r>
            <a:r>
              <a:rPr lang="en-US" sz="2400" dirty="0"/>
              <a:t>: </a:t>
            </a:r>
            <a:r>
              <a:rPr lang="ru-RU" sz="2400" dirty="0"/>
              <a:t>предсказание среднего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CC2D44-E677-225D-4740-D74F55A42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711" y="4056033"/>
            <a:ext cx="3605422" cy="27040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1A6218-C278-8977-F335-BF1753A06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890" y="4095622"/>
            <a:ext cx="3605423" cy="270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9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76658-F1BB-EED6-75CF-D42E324D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BC27ED-368A-9984-5904-77C47E40E41D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EDA: </a:t>
            </a:r>
            <a:r>
              <a:rPr lang="ru-RU" sz="3200" dirty="0">
                <a:latin typeface="+mj-lt"/>
              </a:rPr>
              <a:t>признаки и взаимосвязи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7DFD6B-CF03-D0BE-E776-380F606414D2}"/>
              </a:ext>
            </a:extLst>
          </p:cNvPr>
          <p:cNvSpPr txBox="1"/>
          <p:nvPr/>
        </p:nvSpPr>
        <p:spPr>
          <a:xfrm>
            <a:off x="559104" y="1087781"/>
            <a:ext cx="41230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Часть химических признаков сильно коррелирует с качеством, но зависимости нелинейны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Признак </a:t>
            </a:r>
            <a:r>
              <a:rPr lang="en-US" sz="2400" dirty="0"/>
              <a:t>type </a:t>
            </a:r>
            <a:r>
              <a:rPr lang="ru-RU" sz="2400" dirty="0"/>
              <a:t>формирует отдельные </a:t>
            </a:r>
            <a:r>
              <a:rPr lang="ru-RU" sz="2400" dirty="0" err="1"/>
              <a:t>подраспределения</a:t>
            </a:r>
            <a:r>
              <a:rPr lang="ru-RU" sz="2400" dirty="0"/>
              <a:t> признаков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C7E91E-D502-4F8C-DEE7-D195030F8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169" y="1429308"/>
            <a:ext cx="5768556" cy="399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34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FE031-5234-0188-95E0-55BC8AEDF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1D1203-7673-794E-EA6F-536C88FCE90B}"/>
              </a:ext>
            </a:extLst>
          </p:cNvPr>
          <p:cNvSpPr txBox="1"/>
          <p:nvPr/>
        </p:nvSpPr>
        <p:spPr>
          <a:xfrm>
            <a:off x="283683" y="459821"/>
            <a:ext cx="72518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Более подробно про базовые модели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35983-8848-2FD1-ADE5-FC640C9EF357}"/>
              </a:ext>
            </a:extLst>
          </p:cNvPr>
          <p:cNvSpPr txBox="1"/>
          <p:nvPr/>
        </p:nvSpPr>
        <p:spPr>
          <a:xfrm>
            <a:off x="559103" y="1054903"/>
            <a:ext cx="68882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Линейные модели (</a:t>
            </a:r>
            <a:r>
              <a:rPr lang="en-US" sz="2400" dirty="0"/>
              <a:t>Linear / Ridge / Lasso) </a:t>
            </a:r>
            <a:r>
              <a:rPr lang="ru-RU" sz="2400" dirty="0"/>
              <a:t>улучшают качество, но объясняют лишь часть дисперсии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40545-03AC-4C5A-FD9A-AE243306C1A5}"/>
              </a:ext>
            </a:extLst>
          </p:cNvPr>
          <p:cNvSpPr txBox="1"/>
          <p:nvPr/>
        </p:nvSpPr>
        <p:spPr>
          <a:xfrm>
            <a:off x="377324" y="2407971"/>
            <a:ext cx="72518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Зачем работать с аномалиями</a:t>
            </a:r>
            <a:endParaRPr lang="en-US" sz="32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C04DD-7967-F184-4619-92AF6EC6C448}"/>
              </a:ext>
            </a:extLst>
          </p:cNvPr>
          <p:cNvSpPr txBox="1"/>
          <p:nvPr/>
        </p:nvSpPr>
        <p:spPr>
          <a:xfrm>
            <a:off x="559103" y="3048432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Аномалии могут как ухудшать качество моделей, так и улучшить</a:t>
            </a:r>
            <a:endParaRPr lang="en-US" sz="2400" dirty="0"/>
          </a:p>
          <a:p>
            <a:r>
              <a:rPr lang="ru-RU" sz="2400" dirty="0"/>
              <a:t>Цель - понять природу и использовать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612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9E90-7536-B742-1092-842278570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0A70AD-CC2B-A6E3-F22A-5EB0A8A4C00D}"/>
              </a:ext>
            </a:extLst>
          </p:cNvPr>
          <p:cNvSpPr txBox="1"/>
          <p:nvPr/>
        </p:nvSpPr>
        <p:spPr>
          <a:xfrm>
            <a:off x="283684" y="459821"/>
            <a:ext cx="78467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Поиск аномалий: статистические методы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D1FAF-A7AE-DB0A-2D40-33A5FF3C8D27}"/>
              </a:ext>
            </a:extLst>
          </p:cNvPr>
          <p:cNvSpPr txBox="1"/>
          <p:nvPr/>
        </p:nvSpPr>
        <p:spPr>
          <a:xfrm>
            <a:off x="504021" y="1162384"/>
            <a:ext cx="68882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Для поиска выбросов использованы </a:t>
            </a:r>
            <a:r>
              <a:rPr lang="en-US" sz="2400" dirty="0"/>
              <a:t>Z-score, IQR </a:t>
            </a:r>
            <a:r>
              <a:rPr lang="ru-RU" sz="2400" dirty="0"/>
              <a:t>и тест </a:t>
            </a:r>
            <a:r>
              <a:rPr lang="ru-RU" sz="2400" dirty="0" err="1"/>
              <a:t>Граббса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Аномалии выявляются в хвостах распределений химических показателей</a:t>
            </a:r>
            <a:endParaRPr lang="en-US" sz="24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D75BDCF-2B3B-A22F-7707-153144E4F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21" y="3429000"/>
            <a:ext cx="4255083" cy="276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16C05A93-5A31-6BD8-5F7D-7A8D9A760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732" y="459821"/>
            <a:ext cx="3928584" cy="270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A6B1DC-94BA-4D81-F638-8EDD73540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346" y="3559683"/>
            <a:ext cx="7096240" cy="283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6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EF13-1D20-F641-7D86-8E8A7C80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EC17C7-A189-CF8A-B29A-8BD7CC655A93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Решение по аномалиям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85158-75D2-145F-F50E-26C539AECE4B}"/>
              </a:ext>
            </a:extLst>
          </p:cNvPr>
          <p:cNvSpPr txBox="1"/>
          <p:nvPr/>
        </p:nvSpPr>
        <p:spPr>
          <a:xfrm>
            <a:off x="559104" y="944560"/>
            <a:ext cx="6888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Полное удаление выбросов приводит к потере информации</a:t>
            </a:r>
            <a:r>
              <a:rPr lang="en-US" sz="2400" dirty="0"/>
              <a:t> </a:t>
            </a:r>
            <a:r>
              <a:rPr lang="ru-RU" sz="2400" dirty="0"/>
              <a:t>-</a:t>
            </a:r>
            <a:r>
              <a:rPr lang="en-US" sz="2400" dirty="0"/>
              <a:t>&gt; </a:t>
            </a:r>
            <a:r>
              <a:rPr lang="ru-RU" sz="2400" dirty="0"/>
              <a:t>аномалии используются как дополнительные признаки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898E7A-31E9-7C51-E5E4-1AE849326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520" y="2741360"/>
            <a:ext cx="5486400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B7C8E9-377F-46B2-1460-011E626AC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40579"/>
            <a:ext cx="5486400" cy="3657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39EA97-AA1C-B8B5-D3C9-2E9D45798C99}"/>
              </a:ext>
            </a:extLst>
          </p:cNvPr>
          <p:cNvSpPr txBox="1"/>
          <p:nvPr/>
        </p:nvSpPr>
        <p:spPr>
          <a:xfrm>
            <a:off x="124763" y="2509746"/>
            <a:ext cx="68882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основная задача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E917F5-7522-ED5C-9CD1-52FC9AE6BD6D}"/>
              </a:ext>
            </a:extLst>
          </p:cNvPr>
          <p:cNvSpPr txBox="1"/>
          <p:nvPr/>
        </p:nvSpPr>
        <p:spPr>
          <a:xfrm>
            <a:off x="5810481" y="2509745"/>
            <a:ext cx="68882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подзадача</a:t>
            </a:r>
          </a:p>
        </p:txBody>
      </p:sp>
    </p:spTree>
    <p:extLst>
      <p:ext uri="{BB962C8B-B14F-4D97-AF65-F5344CB8AC3E}">
        <p14:creationId xmlns:p14="http://schemas.microsoft.com/office/powerpoint/2010/main" val="2844996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A50D-12C4-0C78-83BE-AD2F45288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6D3E8-ACD7-CF27-070B-93ED54670B41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Признаки на основе аномалий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43C33-D344-B36B-2A8F-E5538853971D}"/>
              </a:ext>
            </a:extLst>
          </p:cNvPr>
          <p:cNvSpPr txBox="1"/>
          <p:nvPr/>
        </p:nvSpPr>
        <p:spPr>
          <a:xfrm>
            <a:off x="559102" y="1249925"/>
            <a:ext cx="70989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В датасет добавлены флаги аномальности и агрегаты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2529E7-273C-C524-CB2E-8211910B52A8}"/>
              </a:ext>
            </a:extLst>
          </p:cNvPr>
          <p:cNvSpPr txBox="1"/>
          <p:nvPr/>
        </p:nvSpPr>
        <p:spPr>
          <a:xfrm>
            <a:off x="559102" y="1916919"/>
            <a:ext cx="68882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бинарные флаги выбросов по </a:t>
            </a:r>
            <a:r>
              <a:rPr lang="en-US" dirty="0"/>
              <a:t>IQR </a:t>
            </a:r>
            <a:r>
              <a:rPr lang="ru-RU" dirty="0"/>
              <a:t>для каждого признака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флаги "супер-экстремумов" по тесту </a:t>
            </a:r>
            <a:r>
              <a:rPr lang="ru-RU" dirty="0" err="1"/>
              <a:t>Граббса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счётчик числа выбросов по строке (</a:t>
            </a:r>
            <a:r>
              <a:rPr lang="en-US" dirty="0" err="1"/>
              <a:t>iqr_outlier_count</a:t>
            </a:r>
            <a:r>
              <a:rPr lang="en-US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kNN</a:t>
            </a:r>
            <a:r>
              <a:rPr lang="en-US" dirty="0"/>
              <a:t>-</a:t>
            </a:r>
            <a:r>
              <a:rPr lang="ru-RU" dirty="0"/>
              <a:t>оценку "степени одиночества" объекта в пространстве химических показателей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026804D-1C52-B397-8835-FC40ADC1A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660" y="3463754"/>
            <a:ext cx="3544800" cy="267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467E163E-B3BC-9DB9-C9CB-8D908B07C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984" y="3394247"/>
            <a:ext cx="3784830" cy="285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003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3DB2D-AF9E-DA41-2CD5-C458ED6D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6C47DB-B50F-4EE8-335F-D0D57CE0AE7D}"/>
              </a:ext>
            </a:extLst>
          </p:cNvPr>
          <p:cNvSpPr txBox="1"/>
          <p:nvPr/>
        </p:nvSpPr>
        <p:spPr>
          <a:xfrm>
            <a:off x="283684" y="459821"/>
            <a:ext cx="78201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Target Encoding </a:t>
            </a:r>
            <a:r>
              <a:rPr lang="ru-RU" sz="3200" dirty="0">
                <a:latin typeface="+mj-lt"/>
              </a:rPr>
              <a:t>категориальных признаков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115A4-09E2-3118-1853-D18660FEFA34}"/>
              </a:ext>
            </a:extLst>
          </p:cNvPr>
          <p:cNvSpPr txBox="1"/>
          <p:nvPr/>
        </p:nvSpPr>
        <p:spPr>
          <a:xfrm>
            <a:off x="559104" y="944560"/>
            <a:ext cx="68882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Признак </a:t>
            </a:r>
            <a:r>
              <a:rPr lang="en-US" sz="2400" dirty="0"/>
              <a:t>type </a:t>
            </a:r>
            <a:r>
              <a:rPr lang="ru-RU" sz="2400" dirty="0"/>
              <a:t>закодирован через </a:t>
            </a:r>
            <a:r>
              <a:rPr lang="en-US" sz="2400" dirty="0"/>
              <a:t>out-of-fold Target Encoding </a:t>
            </a:r>
            <a:r>
              <a:rPr lang="ru-RU" sz="2400" dirty="0"/>
              <a:t>без утечки </a:t>
            </a:r>
            <a:r>
              <a:rPr lang="ru-RU" sz="2400" dirty="0" err="1"/>
              <a:t>таргета</a:t>
            </a:r>
            <a:endParaRPr lang="ru-R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Target Encoding </a:t>
            </a:r>
            <a:r>
              <a:rPr lang="ru-RU" sz="2400" dirty="0"/>
              <a:t>показал небольшое, но стабильное преимущество над </a:t>
            </a:r>
            <a:r>
              <a:rPr lang="en-US" sz="2400" dirty="0"/>
              <a:t>OHE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04E8C-CB41-422C-BBD0-D6DFEF50A221}"/>
              </a:ext>
            </a:extLst>
          </p:cNvPr>
          <p:cNvSpPr txBox="1"/>
          <p:nvPr/>
        </p:nvSpPr>
        <p:spPr>
          <a:xfrm>
            <a:off x="283684" y="3136612"/>
            <a:ext cx="78201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Признаки ближайших соседей</a:t>
            </a:r>
            <a:endParaRPr lang="en-US" sz="3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980AB-6E49-152D-BB10-EE3BED502AFE}"/>
              </a:ext>
            </a:extLst>
          </p:cNvPr>
          <p:cNvSpPr txBox="1"/>
          <p:nvPr/>
        </p:nvSpPr>
        <p:spPr>
          <a:xfrm>
            <a:off x="559104" y="3810422"/>
            <a:ext cx="60979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Для каждого наблюдения рассчитаны </a:t>
            </a:r>
            <a:r>
              <a:rPr lang="en-US" sz="2400" dirty="0"/>
              <a:t>KNN-</a:t>
            </a:r>
            <a:r>
              <a:rPr lang="ru-RU" sz="2400" dirty="0"/>
              <a:t>агрегаты: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среднее отклонение качества у </a:t>
            </a:r>
            <a:r>
              <a:rPr lang="ru-RU" sz="2400" dirty="0" err="1"/>
              <a:t>ближ</a:t>
            </a:r>
            <a:r>
              <a:rPr lang="ru-RU" sz="2400" dirty="0"/>
              <a:t>. соседей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стандартное отклонение качества у ближайших соседей.</a:t>
            </a:r>
          </a:p>
          <a:p>
            <a:r>
              <a:rPr lang="en-US" sz="2400" dirty="0"/>
              <a:t>*</a:t>
            </a:r>
            <a:r>
              <a:rPr lang="ru-RU" sz="2400" dirty="0"/>
              <a:t>идея - добавить нелинейность</a:t>
            </a:r>
          </a:p>
        </p:txBody>
      </p:sp>
    </p:spTree>
    <p:extLst>
      <p:ext uri="{BB962C8B-B14F-4D97-AF65-F5344CB8AC3E}">
        <p14:creationId xmlns:p14="http://schemas.microsoft.com/office/powerpoint/2010/main" val="1891790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F03E4-3BF3-CA34-4637-5B420FBD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FC6BF-AB7A-5353-E247-BCFE6CABD105}"/>
              </a:ext>
            </a:extLst>
          </p:cNvPr>
          <p:cNvSpPr txBox="1"/>
          <p:nvPr/>
        </p:nvSpPr>
        <p:spPr>
          <a:xfrm>
            <a:off x="283684" y="459821"/>
            <a:ext cx="7163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Контекстные и доменные признаки</a:t>
            </a:r>
            <a:endParaRPr lang="en-US" sz="3200"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0F4705-B1BF-1B6D-D420-C57142E2E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257943"/>
              </p:ext>
            </p:extLst>
          </p:nvPr>
        </p:nvGraphicFramePr>
        <p:xfrm>
          <a:off x="480060" y="1044596"/>
          <a:ext cx="11231880" cy="5586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3960">
                  <a:extLst>
                    <a:ext uri="{9D8B030D-6E8A-4147-A177-3AD203B41FA5}">
                      <a16:colId xmlns:a16="http://schemas.microsoft.com/office/drawing/2014/main" val="758338913"/>
                    </a:ext>
                  </a:extLst>
                </a:gridCol>
                <a:gridCol w="3743960">
                  <a:extLst>
                    <a:ext uri="{9D8B030D-6E8A-4147-A177-3AD203B41FA5}">
                      <a16:colId xmlns:a16="http://schemas.microsoft.com/office/drawing/2014/main" val="643604186"/>
                    </a:ext>
                  </a:extLst>
                </a:gridCol>
                <a:gridCol w="3743960">
                  <a:extLst>
                    <a:ext uri="{9D8B030D-6E8A-4147-A177-3AD203B41FA5}">
                      <a16:colId xmlns:a16="http://schemas.microsoft.com/office/drawing/2014/main" val="2984350202"/>
                    </a:ext>
                  </a:extLst>
                </a:gridCol>
              </a:tblGrid>
              <a:tr h="2327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Признак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/>
                        <a:t>Формула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Что означает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4148873498"/>
                  </a:ext>
                </a:extLst>
              </a:tr>
              <a:tr h="646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so2_ratio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free sulfur dioxide / total sulfur dioxide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При высоком </a:t>
                      </a:r>
                      <a:r>
                        <a:rPr lang="en-US" sz="1800" dirty="0"/>
                        <a:t>pH </a:t>
                      </a:r>
                      <a:r>
                        <a:rPr lang="ru-RU" sz="1800" dirty="0"/>
                        <a:t>для стабильности требуется большая доля свободного </a:t>
                      </a:r>
                      <a:r>
                        <a:rPr lang="en-US" sz="1800" dirty="0"/>
                        <a:t>SO₂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1837604384"/>
                  </a:ext>
                </a:extLst>
              </a:tr>
              <a:tr h="646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sugar_density</a:t>
                      </a:r>
                      <a:endParaRPr lang="en-US" sz="1800" dirty="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residual sugar / density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Чем выше значение, тем вино слаще и потенциально более алкогольное.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3736270763"/>
                  </a:ext>
                </a:extLst>
              </a:tr>
              <a:tr h="47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acid_balance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fixed acidity + citric acid − volatile acidity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Баланс кислотной структуры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4214596748"/>
                  </a:ext>
                </a:extLst>
              </a:tr>
              <a:tr h="47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alcohol_efficiency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alcohol / (residual sugar + </a:t>
                      </a:r>
                      <a:r>
                        <a:rPr lang="el-GR" sz="1800"/>
                        <a:t>ε)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Насколько сахар конвертирован в алкоголь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3261127179"/>
                  </a:ext>
                </a:extLst>
              </a:tr>
              <a:tr h="478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mineral_index</a:t>
                      </a:r>
                      <a:endParaRPr lang="en-US" sz="1800" dirty="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chlorides × density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Минеральная нагрузка с учётом плотности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2932735023"/>
                  </a:ext>
                </a:extLst>
              </a:tr>
              <a:tr h="43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ph_acid_interaction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pH × fixed acidity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Совместный эффект </a:t>
                      </a:r>
                      <a:r>
                        <a:rPr lang="en-US" sz="1800" dirty="0"/>
                        <a:t>pH </a:t>
                      </a:r>
                      <a:r>
                        <a:rPr lang="ru-RU" sz="1800" dirty="0"/>
                        <a:t>и кислотности</a:t>
                      </a:r>
                      <a:endParaRPr lang="en-US" sz="1800" dirty="0"/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1476381957"/>
                  </a:ext>
                </a:extLst>
              </a:tr>
              <a:tr h="6463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alcohol_color_dev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alcohol − mean(alcohol | type)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Отклонение алкоголя от среднего для типа вина(различия между типами)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620258468"/>
                  </a:ext>
                </a:extLst>
              </a:tr>
              <a:tr h="439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acid_color_dev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fixed acidity − mean(fixed acidity | type)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dirty="0"/>
                        <a:t>Отклонение кислотности от среднего в рамках типа вина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1443481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003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DBC4-658D-D722-D089-AD9BF520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B57EBC-21EB-2C0A-122F-90AB0073DF5E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Отбор признаков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CF1E4-21DB-2CD0-D2B6-7E9717AB50B3}"/>
              </a:ext>
            </a:extLst>
          </p:cNvPr>
          <p:cNvSpPr txBox="1"/>
          <p:nvPr/>
        </p:nvSpPr>
        <p:spPr>
          <a:xfrm>
            <a:off x="559103" y="1024368"/>
            <a:ext cx="688829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Использованы встроенные методы отбора через модели (</a:t>
            </a:r>
            <a:r>
              <a:rPr lang="en-US" sz="2400" dirty="0"/>
              <a:t>feature importance)</a:t>
            </a:r>
            <a:br>
              <a:rPr lang="en-US" sz="2400" dirty="0"/>
            </a:br>
            <a:endParaRPr lang="ru-RU" sz="2400" dirty="0"/>
          </a:p>
          <a:p>
            <a:r>
              <a:rPr lang="ru-RU" sz="2400" dirty="0"/>
              <a:t>Отобраны признаки, устойчиво влияющие на качество на разных сплитах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45C21-6AED-8AB0-0DD6-7A0AF45BC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068" y="2963360"/>
            <a:ext cx="4507881" cy="300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81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A12D-6EB1-2C91-0AB1-0FD907FDF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D8C9D4-B4B2-2782-65FE-42B7FB10EC36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Финальные модели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728C6C-5826-0DE9-B2EC-5532ACC86DB2}"/>
              </a:ext>
            </a:extLst>
          </p:cNvPr>
          <p:cNvSpPr txBox="1"/>
          <p:nvPr/>
        </p:nvSpPr>
        <p:spPr>
          <a:xfrm>
            <a:off x="559104" y="944560"/>
            <a:ext cx="68882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Сравнение моделей показало преимущество ансамблевых методов</a:t>
            </a:r>
          </a:p>
          <a:p>
            <a:r>
              <a:rPr lang="en-US" sz="2400" dirty="0" err="1"/>
              <a:t>LightGBM</a:t>
            </a:r>
            <a:r>
              <a:rPr lang="en-US" sz="2400" dirty="0"/>
              <a:t> </a:t>
            </a:r>
            <a:r>
              <a:rPr lang="ru-RU" sz="2400" dirty="0"/>
              <a:t>демонстрирует лучшие метрики по </a:t>
            </a:r>
            <a:r>
              <a:rPr lang="en-US" sz="2400" dirty="0"/>
              <a:t>RMSE </a:t>
            </a:r>
            <a:r>
              <a:rPr lang="ru-RU" sz="2400" dirty="0"/>
              <a:t>и </a:t>
            </a:r>
            <a:r>
              <a:rPr lang="en-US" sz="2400" dirty="0"/>
              <a:t>R²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9B03C18-F137-6A69-82EE-EB927EB89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2605059"/>
            <a:ext cx="7683500" cy="379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765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DE43-ABF2-6460-9C08-3D0E0988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1D1C97-4232-D41E-52BF-6953BCC2F5D8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Глобальная интерпретация (</a:t>
            </a:r>
            <a:r>
              <a:rPr lang="en-US" sz="3200" dirty="0">
                <a:latin typeface="+mj-lt"/>
              </a:rPr>
              <a:t>SHAP)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922D0-D9FE-10CC-D04F-1A627094082A}"/>
              </a:ext>
            </a:extLst>
          </p:cNvPr>
          <p:cNvSpPr txBox="1"/>
          <p:nvPr/>
        </p:nvSpPr>
        <p:spPr>
          <a:xfrm>
            <a:off x="559104" y="944560"/>
            <a:ext cx="68882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SHAP </a:t>
            </a:r>
            <a:r>
              <a:rPr lang="ru-RU" sz="2400" dirty="0"/>
              <a:t>подтверждает значимость ключевых химических признаков</a:t>
            </a:r>
          </a:p>
          <a:p>
            <a:r>
              <a:rPr lang="ru-RU" sz="2400" dirty="0"/>
              <a:t>Направления влияния интерпретируемы и согласуются с доменной логикой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E2149C7-427D-6D18-6820-8B8CB39D0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71" y="2194560"/>
            <a:ext cx="3438525" cy="422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CAD7136A-609E-4FBA-34D9-53AA377FD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316" y="2688590"/>
            <a:ext cx="4799204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968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F2595-E3B4-8F24-B8E1-3C747322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8AFC13-78AF-F1F5-01EF-87893B910CA7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SHAP-</a:t>
            </a:r>
            <a:r>
              <a:rPr lang="ru-RU" sz="3200" dirty="0" err="1"/>
              <a:t>эмбеддинги</a:t>
            </a:r>
            <a:r>
              <a:rPr lang="ru-RU" sz="3200" dirty="0"/>
              <a:t> и кластеры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5FBE8-A24B-D9DF-9292-F3F659DD5225}"/>
              </a:ext>
            </a:extLst>
          </p:cNvPr>
          <p:cNvSpPr txBox="1"/>
          <p:nvPr/>
        </p:nvSpPr>
        <p:spPr>
          <a:xfrm>
            <a:off x="559104" y="944560"/>
            <a:ext cx="68882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SHAP-</a:t>
            </a:r>
            <a:r>
              <a:rPr lang="ru-RU" sz="2400" dirty="0" err="1"/>
              <a:t>эмбеддинги</a:t>
            </a:r>
            <a:r>
              <a:rPr lang="ru-RU" sz="2400" dirty="0"/>
              <a:t> позволяют выявлять кластеры и аномальные паттерны поведения модели</a:t>
            </a:r>
          </a:p>
          <a:p>
            <a:r>
              <a:rPr lang="ru-RU" sz="2400" dirty="0"/>
              <a:t>Кластеризация выявляет группы вин с различной логикой формирования качества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D2E644BE-8CB2-1C91-D635-DB1CEA6D0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752" y="2929999"/>
            <a:ext cx="4305300" cy="321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78894776-97B0-CD69-C837-2B957770B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1" y="2929998"/>
            <a:ext cx="4305300" cy="3218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28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5A96-825F-782A-2910-F6916708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04F19-13B3-7727-AB94-66142D05C679}"/>
              </a:ext>
            </a:extLst>
          </p:cNvPr>
          <p:cNvSpPr txBox="1"/>
          <p:nvPr/>
        </p:nvSpPr>
        <p:spPr>
          <a:xfrm>
            <a:off x="283684" y="459821"/>
            <a:ext cx="60978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+mj-lt"/>
              </a:rPr>
              <a:t>Итоговые выводы</a:t>
            </a:r>
            <a:endParaRPr lang="en-US" sz="3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E4586-7271-7585-265E-089528EAE810}"/>
              </a:ext>
            </a:extLst>
          </p:cNvPr>
          <p:cNvSpPr txBox="1"/>
          <p:nvPr/>
        </p:nvSpPr>
        <p:spPr>
          <a:xfrm>
            <a:off x="719124" y="1847530"/>
            <a:ext cx="688829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000" dirty="0"/>
              <a:t>• Аномалии полезны как источник признаков</a:t>
            </a:r>
          </a:p>
          <a:p>
            <a:r>
              <a:rPr lang="ru-RU" sz="3000" dirty="0"/>
              <a:t>• </a:t>
            </a:r>
            <a:r>
              <a:rPr lang="en-US" sz="3000" dirty="0"/>
              <a:t>KNN </a:t>
            </a:r>
            <a:r>
              <a:rPr lang="ru-RU" sz="3000" dirty="0"/>
              <a:t>и </a:t>
            </a:r>
            <a:r>
              <a:rPr lang="en-US" sz="3000" dirty="0"/>
              <a:t>Target Encoding </a:t>
            </a:r>
            <a:r>
              <a:rPr lang="ru-RU" sz="3000" dirty="0"/>
              <a:t>дают устойчивый прирост</a:t>
            </a:r>
          </a:p>
          <a:p>
            <a:r>
              <a:rPr lang="ru-RU" sz="3000" dirty="0"/>
              <a:t>• Интерпретация подтверждает осмысленность модели</a:t>
            </a:r>
          </a:p>
          <a:p>
            <a:r>
              <a:rPr lang="ru-RU" sz="3000" dirty="0"/>
              <a:t>• </a:t>
            </a:r>
            <a:r>
              <a:rPr lang="en-US" sz="3000" dirty="0" err="1"/>
              <a:t>LightGBM</a:t>
            </a:r>
            <a:r>
              <a:rPr lang="en-US" sz="3000" dirty="0"/>
              <a:t> — </a:t>
            </a:r>
            <a:r>
              <a:rPr lang="ru-RU" sz="3000" dirty="0"/>
              <a:t>оптимальный финальный выбор</a:t>
            </a:r>
          </a:p>
        </p:txBody>
      </p:sp>
    </p:spTree>
    <p:extLst>
      <p:ext uri="{BB962C8B-B14F-4D97-AF65-F5344CB8AC3E}">
        <p14:creationId xmlns:p14="http://schemas.microsoft.com/office/powerpoint/2010/main" val="804989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601</Words>
  <Application>Microsoft Macintosh PowerPoint</Application>
  <PresentationFormat>Widescreen</PresentationFormat>
  <Paragraphs>103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ML ПРОЕКТ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5</cp:revision>
  <dcterms:created xsi:type="dcterms:W3CDTF">2025-12-16T14:08:43Z</dcterms:created>
  <dcterms:modified xsi:type="dcterms:W3CDTF">2025-12-18T03:10:40Z</dcterms:modified>
</cp:coreProperties>
</file>